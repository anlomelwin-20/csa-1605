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77117C50-0FE3-EEEB-10BE-90AB23A8BD88}">
          <p14:sldIdLst>
            <p14:sldId id="256"/>
          </p14:sldIdLst>
        </p14:section>
        <p14:section name="Foundations" id="{91F3FA5E-9A79-35D3-195F-9868B1646834}">
          <p14:sldIdLst>
            <p14:sldId id="257"/>
          </p14:sldIdLst>
        </p14:section>
        <p14:section name="Query Processing" id="{5284EC7F-BD69-EF23-B640-3D040762DAAE}">
          <p14:sldIdLst>
            <p14:sldId id="259"/>
            <p14:sldId id="260"/>
            <p14:sldId id="261"/>
          </p14:sldIdLst>
        </p14:section>
        <p14:section name="Indexing" id="{443C238E-9958-AA76-7B69-B31D87F8D5CC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6916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09728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 and Business Intelligence Systems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Technical Presentation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Presented by: Anlo </a:t>
            </a:r>
            <a:r>
              <a:rPr lang="en-US" sz="1600" dirty="0" err="1">
                <a:solidFill>
                  <a:schemeClr val="bg2"/>
                </a:solidFill>
              </a:rPr>
              <a:t>Melwin.S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Query Processing and Business Intelligence (BI) are two important components of modern data-driven systems.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50876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5" name="Icon circle 1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Query process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9842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554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Query processing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Converts SQL statements into executable operations to retrieve or modify data.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663440" y="150876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9" name="Icon circle 2"/>
          <p:cNvSpPr/>
          <p:nvPr/>
        </p:nvSpPr>
        <p:spPr>
          <a:xfrm>
            <a:off x="4846320" y="1828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Query optimization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19842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77840" y="1554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Query optimization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Identifies an efficient execution strategy.</a:t>
            </a:r>
            <a:endParaRPr lang="en-US" sz="1600" dirty="0"/>
          </a:p>
        </p:txBody>
      </p:sp>
      <p:sp>
        <p:nvSpPr>
          <p:cNvPr id="12" name="Card 3"/>
          <p:cNvSpPr/>
          <p:nvPr/>
        </p:nvSpPr>
        <p:spPr>
          <a:xfrm>
            <a:off x="457200" y="283464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3" name="Icon circle 3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2" descr="Business Intelligence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31012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880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Business Intelligence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Transforms raw data into meaningful information for decision-making.</a:t>
            </a:r>
            <a:endParaRPr lang="en-US" sz="1600" dirty="0"/>
          </a:p>
        </p:txBody>
      </p:sp>
      <p:sp>
        <p:nvSpPr>
          <p:cNvPr id="16" name="Card 4"/>
          <p:cNvSpPr/>
          <p:nvPr/>
        </p:nvSpPr>
        <p:spPr>
          <a:xfrm>
            <a:off x="4663440" y="2834640"/>
            <a:ext cx="40233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7" name="Icon circle 4"/>
          <p:cNvSpPr/>
          <p:nvPr/>
        </p:nvSpPr>
        <p:spPr>
          <a:xfrm>
            <a:off x="484632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3" descr="Data visualizatio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768" y="331012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577840" y="28803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Data visualization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Presents insights through charts, graphs, and interactive dashboards.</a:t>
            </a:r>
            <a:endParaRPr lang="en-US" sz="1600" dirty="0"/>
          </a:p>
        </p:txBody>
      </p:sp>
      <p:sp>
        <p:nvSpPr>
          <p:cNvPr id="20" name="Example strip"/>
          <p:cNvSpPr/>
          <p:nvPr/>
        </p:nvSpPr>
        <p:spPr>
          <a:xfrm>
            <a:off x="457200" y="4206240"/>
            <a:ext cx="822960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64008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Real-world example: </a:t>
            </a:r>
            <a:r>
              <a:rPr lang="en-US" sz="1400" dirty="0">
                <a:solidFill>
                  <a:schemeClr val="bg1"/>
                </a:solidFill>
              </a:rPr>
              <a:t>An e-commerce company processes SQL queries to retrieve sales records and uses a BI dashboard to identify its best-selling products.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Processing Architecture</a:t>
            </a:r>
            <a:endParaRPr lang="en-US" sz="3400" dirty="0"/>
          </a:p>
        </p:txBody>
      </p:sp>
      <p:sp>
        <p:nvSpPr>
          <p:cNvPr id="3" name="Stage 1"/>
          <p:cNvSpPr/>
          <p:nvPr/>
        </p:nvSpPr>
        <p:spPr>
          <a:xfrm>
            <a:off x="457200" y="1280160"/>
            <a:ext cx="1463040" cy="19202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Badge 1"/>
          <p:cNvSpPr/>
          <p:nvPr/>
        </p:nvSpPr>
        <p:spPr>
          <a:xfrm>
            <a:off x="9601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 number 1"/>
          <p:cNvSpPr txBox="1"/>
          <p:nvPr/>
        </p:nvSpPr>
        <p:spPr>
          <a:xfrm>
            <a:off x="9601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SQL Query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SELECT, FROM, WHERE, JOIN</a:t>
            </a:r>
            <a:endParaRPr lang="en-US" sz="1200" dirty="0"/>
          </a:p>
        </p:txBody>
      </p:sp>
      <p:sp>
        <p:nvSpPr>
          <p:cNvPr id="8" name="Arrow 1"/>
          <p:cNvSpPr/>
          <p:nvPr/>
        </p:nvSpPr>
        <p:spPr>
          <a:xfrm rot="5400000">
            <a:off x="1956816" y="2148840"/>
            <a:ext cx="182880" cy="18288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9" name="Stage 2"/>
          <p:cNvSpPr/>
          <p:nvPr/>
        </p:nvSpPr>
        <p:spPr>
          <a:xfrm>
            <a:off x="2148840" y="1280160"/>
            <a:ext cx="1463040" cy="19202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Badge 2"/>
          <p:cNvSpPr/>
          <p:nvPr/>
        </p:nvSpPr>
        <p:spPr>
          <a:xfrm>
            <a:off x="265176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Badge number 2"/>
          <p:cNvSpPr txBox="1"/>
          <p:nvPr/>
        </p:nvSpPr>
        <p:spPr>
          <a:xfrm>
            <a:off x="26517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Parser and Validator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4028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Syntax, schema and type checking</a:t>
            </a:r>
            <a:endParaRPr lang="en-US" sz="1200" dirty="0"/>
          </a:p>
        </p:txBody>
      </p:sp>
      <p:sp>
        <p:nvSpPr>
          <p:cNvPr id="14" name="Arrow 2"/>
          <p:cNvSpPr/>
          <p:nvPr/>
        </p:nvSpPr>
        <p:spPr>
          <a:xfrm rot="5400000">
            <a:off x="3648456" y="2148840"/>
            <a:ext cx="182880" cy="18288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15" name="Stage 3"/>
          <p:cNvSpPr/>
          <p:nvPr/>
        </p:nvSpPr>
        <p:spPr>
          <a:xfrm>
            <a:off x="3840480" y="1280160"/>
            <a:ext cx="1463040" cy="19202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Badge 3"/>
          <p:cNvSpPr/>
          <p:nvPr/>
        </p:nvSpPr>
        <p:spPr>
          <a:xfrm>
            <a:off x="434340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adge number 3"/>
          <p:cNvSpPr txBox="1"/>
          <p:nvPr/>
        </p:nvSpPr>
        <p:spPr>
          <a:xfrm>
            <a:off x="4343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 Optimizer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3192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Chooses an efficient execution plan</a:t>
            </a:r>
            <a:endParaRPr lang="en-US" sz="1200" dirty="0"/>
          </a:p>
        </p:txBody>
      </p:sp>
      <p:sp>
        <p:nvSpPr>
          <p:cNvPr id="20" name="Arrow 3"/>
          <p:cNvSpPr/>
          <p:nvPr/>
        </p:nvSpPr>
        <p:spPr>
          <a:xfrm rot="5400000">
            <a:off x="5340096" y="2148840"/>
            <a:ext cx="182880" cy="18288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21" name="Stage 4"/>
          <p:cNvSpPr/>
          <p:nvPr/>
        </p:nvSpPr>
        <p:spPr>
          <a:xfrm>
            <a:off x="5532120" y="1280160"/>
            <a:ext cx="1463040" cy="19202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Badge 4"/>
          <p:cNvSpPr/>
          <p:nvPr/>
        </p:nvSpPr>
        <p:spPr>
          <a:xfrm>
            <a:off x="60350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Badge number 4"/>
          <p:cNvSpPr txBox="1"/>
          <p:nvPr/>
        </p:nvSpPr>
        <p:spPr>
          <a:xfrm>
            <a:off x="6035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Execution Engine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Runs scans, joins, filters and aggregates</a:t>
            </a:r>
            <a:endParaRPr lang="en-US" sz="1200" dirty="0"/>
          </a:p>
        </p:txBody>
      </p:sp>
      <p:sp>
        <p:nvSpPr>
          <p:cNvPr id="26" name="Arrow 4"/>
          <p:cNvSpPr/>
          <p:nvPr/>
        </p:nvSpPr>
        <p:spPr>
          <a:xfrm rot="5400000">
            <a:off x="7031736" y="2148840"/>
            <a:ext cx="182880" cy="182880"/>
          </a:xfrm>
          <a:prstGeom prst="triangle">
            <a:avLst/>
          </a:prstGeom>
          <a:solidFill>
            <a:schemeClr val="accent2"/>
          </a:solidFill>
          <a:ln/>
        </p:spPr>
      </p:sp>
      <p:sp>
        <p:nvSpPr>
          <p:cNvPr id="27" name="Stage 5"/>
          <p:cNvSpPr/>
          <p:nvPr/>
        </p:nvSpPr>
        <p:spPr>
          <a:xfrm>
            <a:off x="7223760" y="1280160"/>
            <a:ext cx="1463040" cy="192024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Badge 5"/>
          <p:cNvSpPr/>
          <p:nvPr/>
        </p:nvSpPr>
        <p:spPr>
          <a:xfrm>
            <a:off x="77266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Badge number 5"/>
          <p:cNvSpPr txBox="1"/>
          <p:nvPr/>
        </p:nvSpPr>
        <p:spPr>
          <a:xfrm>
            <a:off x="77266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2011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Query Results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315200" y="2468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Rows, columns and aggregated values</a:t>
            </a:r>
            <a:endParaRPr lang="en-US" sz="1200" dirty="0"/>
          </a:p>
        </p:txBody>
      </p:sp>
      <p:sp>
        <p:nvSpPr>
          <p:cNvPr id="32" name="Summary panel"/>
          <p:cNvSpPr/>
          <p:nvPr/>
        </p:nvSpPr>
        <p:spPr>
          <a:xfrm>
            <a:off x="457200" y="3566160"/>
            <a:ext cx="822960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" y="35661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database management system (DBMS) transforms a high-level SQL query into lower-level operations. Its optimizer uses information such as table statistics, indexes, and estimated operation costs to choose an execution plan.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Execution and Evaluation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Query evaluation is the process of carrying out the operations represented by a SQL query.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Sales table (input)</a:t>
            </a:r>
            <a:endParaRPr lang="en-US" sz="1400" dirty="0"/>
          </a:p>
        </p:txBody>
      </p:sp>
      <p:graphicFrame>
        <p:nvGraphicFramePr>
          <p:cNvPr id="6" name="Inpu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3657600" cy="164592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Sale_ID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50000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Mouse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800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60000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104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Keyboard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1500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 txBox="1"/>
          <p:nvPr/>
        </p:nvSpPr>
        <p:spPr>
          <a:xfrm>
            <a:off x="521208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Expected output</a:t>
            </a:r>
            <a:endParaRPr lang="en-US" sz="1400" dirty="0"/>
          </a:p>
        </p:txBody>
      </p:sp>
      <p:graphicFrame>
        <p:nvGraphicFramePr>
          <p:cNvPr id="11" name="Outpu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783080"/>
          <a:ext cx="3474720" cy="13167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50000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Laptop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60000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Keyboard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1500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low arrow"/>
          <p:cNvSpPr/>
          <p:nvPr/>
        </p:nvSpPr>
        <p:spPr>
          <a:xfrm>
            <a:off x="4297680" y="2331720"/>
            <a:ext cx="731520" cy="45720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457200" y="3611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 query</a:t>
            </a:r>
            <a:endParaRPr lang="en-US" sz="1400" dirty="0"/>
          </a:p>
        </p:txBody>
      </p:sp>
      <p:sp>
        <p:nvSpPr>
          <p:cNvPr id="10" name="SQL box"/>
          <p:cNvSpPr/>
          <p:nvPr/>
        </p:nvSpPr>
        <p:spPr>
          <a:xfrm>
            <a:off x="457200" y="3931920"/>
            <a:ext cx="822960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/>
        </p:spPr>
      </p:sp>
      <p:sp>
        <p:nvSpPr>
          <p:cNvPr id="7" name="SQL text"/>
          <p:cNvSpPr txBox="1"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Product, Amount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Sales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&gt; 1000;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 Steps and Operators</a:t>
            </a:r>
            <a:endParaRPr lang="en-US" sz="3400" dirty="0"/>
          </a:p>
        </p:txBody>
      </p:sp>
      <p:sp>
        <p:nvSpPr>
          <p:cNvPr id="3" name="Step row 1"/>
          <p:cNvSpPr/>
          <p:nvPr/>
        </p:nvSpPr>
        <p:spPr>
          <a:xfrm>
            <a:off x="457200" y="123444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4" name="Badge 1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 number 1"/>
          <p:cNvSpPr txBox="1"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23444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Scan the Sales table or an appropriate index.</a:t>
            </a:r>
            <a:endParaRPr lang="en-US" sz="1400" dirty="0"/>
          </a:p>
        </p:txBody>
      </p:sp>
      <p:sp>
        <p:nvSpPr>
          <p:cNvPr id="7" name="Step row 2"/>
          <p:cNvSpPr/>
          <p:nvPr/>
        </p:nvSpPr>
        <p:spPr>
          <a:xfrm>
            <a:off x="457200" y="210312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8" name="Badge 2"/>
          <p:cNvSpPr/>
          <p:nvPr/>
        </p:nvSpPr>
        <p:spPr>
          <a:xfrm>
            <a:off x="640080" y="22402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Badge number 2"/>
          <p:cNvSpPr txBox="1"/>
          <p:nvPr/>
        </p:nvSpPr>
        <p:spPr>
          <a:xfrm>
            <a:off x="6400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031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Apply the condition Amount &gt; 1000.</a:t>
            </a:r>
            <a:endParaRPr lang="en-US" sz="1400" dirty="0"/>
          </a:p>
        </p:txBody>
      </p:sp>
      <p:sp>
        <p:nvSpPr>
          <p:cNvPr id="11" name="Step row 3"/>
          <p:cNvSpPr/>
          <p:nvPr/>
        </p:nvSpPr>
        <p:spPr>
          <a:xfrm>
            <a:off x="457200" y="297180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Badge 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Badge number 3"/>
          <p:cNvSpPr txBox="1"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971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Remove rows that do not satisfy the condition.</a:t>
            </a:r>
            <a:endParaRPr lang="en-US" sz="1400" dirty="0"/>
          </a:p>
        </p:txBody>
      </p:sp>
      <p:sp>
        <p:nvSpPr>
          <p:cNvPr id="15" name="Step row 4"/>
          <p:cNvSpPr/>
          <p:nvPr/>
        </p:nvSpPr>
        <p:spPr>
          <a:xfrm>
            <a:off x="457200" y="3840480"/>
            <a:ext cx="493776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6" name="Badge 4"/>
          <p:cNvSpPr/>
          <p:nvPr/>
        </p:nvSpPr>
        <p:spPr>
          <a:xfrm>
            <a:off x="640080" y="3977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adge number 4"/>
          <p:cNvSpPr txBox="1"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8404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Return only the requested columns.</a:t>
            </a:r>
            <a:endParaRPr lang="en-US" sz="1400" dirty="0"/>
          </a:p>
        </p:txBody>
      </p:sp>
      <p:sp>
        <p:nvSpPr>
          <p:cNvPr id="19" name="Operators panel"/>
          <p:cNvSpPr/>
          <p:nvPr/>
        </p:nvSpPr>
        <p:spPr>
          <a:xfrm>
            <a:off x="5669280" y="1234440"/>
            <a:ext cx="3017520" cy="333756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97880" y="13716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Common execution operators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192024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Table scans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Filters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Joins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Sorting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Grouping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Aggregation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352044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bg2"/>
                </a:solidFill>
              </a:rPr>
              <a:t>The DBMS organizes these operators into an execution plan.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Indexing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 index is an auxiliary data structure that helps a database locate records without scanning every row in the table.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Example</a:t>
            </a:r>
            <a:endParaRPr lang="en-US" sz="1400" dirty="0"/>
          </a:p>
        </p:txBody>
      </p:sp>
      <p:sp>
        <p:nvSpPr>
          <p:cNvPr id="5" name="SQL box"/>
          <p:cNvSpPr/>
          <p:nvPr/>
        </p:nvSpPr>
        <p:spPr>
          <a:xfrm>
            <a:off x="457200" y="2057400"/>
            <a:ext cx="35661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6" name="SQL text"/>
          <p:cNvSpPr txBox="1"/>
          <p:nvPr/>
        </p:nvSpPr>
        <p:spPr>
          <a:xfrm>
            <a:off x="640080" y="20574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idx_sales_amount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Sales(Amount);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0632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Now the database has an index on Amount. A query that searches for a small number of matching rows may use that index instead of performing a full table scan.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737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Index types</a:t>
            </a:r>
            <a:endParaRPr lang="en-US" sz="1400" dirty="0"/>
          </a:p>
        </p:txBody>
      </p:sp>
      <p:graphicFrame>
        <p:nvGraphicFramePr>
          <p:cNvPr id="9" name="Index type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2057400"/>
          <a:ext cx="4297680" cy="246888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Index type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Typical application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B-tree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Equality and range searches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Hash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Equality lookups, where supported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Composite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Queries involving multiple columns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B2545"/>
                          </a:solidFill>
                        </a:rPr>
                        <a:t>Bitmap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B2545"/>
                          </a:solidFill>
                        </a:rPr>
                        <a:t>Certain analytical workloads and low-cardinality data, depending on the DBMS</a:t>
                      </a:r>
                      <a:endParaRPr lang="en-US" sz="1200" dirty="0"/>
                    </a:p>
                  </a:txBody>
                  <a:tcPr marT="0" marB="0" anchor="ctr">
                    <a:lnL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I Navy Teal">
  <a:themeElements>
    <a:clrScheme name="BI Navy Teal">
      <a:dk1>
        <a:srgbClr val="0B2545"/>
      </a:dk1>
      <a:lt1>
        <a:srgbClr val="FFFFFF"/>
      </a:lt1>
      <a:dk2>
        <a:srgbClr val="4A5D78"/>
      </a:dk2>
      <a:lt2>
        <a:srgbClr val="EEF3F8"/>
      </a:lt2>
      <a:accent1>
        <a:srgbClr val="13A89E"/>
      </a:accent1>
      <a:accent2>
        <a:srgbClr val="F5A623"/>
      </a:accent2>
      <a:accent3>
        <a:srgbClr val="1C7293"/>
      </a:accent3>
      <a:accent4>
        <a:srgbClr val="8DA9C4"/>
      </a:accent4>
      <a:accent5>
        <a:srgbClr val="134074"/>
      </a:accent5>
      <a:accent6>
        <a:srgbClr val="E4572E"/>
      </a:accent6>
      <a:hlink>
        <a:srgbClr val="1C7293"/>
      </a:hlink>
      <a:folHlink>
        <a:srgbClr val="4A5D78"/>
      </a:folHlink>
    </a:clrScheme>
    <a:fontScheme name="BI Navy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423</Words>
  <Application>Microsoft Office PowerPoint</Application>
  <PresentationFormat>On-screen Show (16:9)</PresentationFormat>
  <Paragraphs>102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</vt:lpstr>
      <vt:lpstr>Courier New</vt:lpstr>
      <vt:lpstr>BI Navy Teal</vt:lpstr>
      <vt:lpstr>Query Processing and Business Intelligence Systems</vt:lpstr>
      <vt:lpstr>Introduction</vt:lpstr>
      <vt:lpstr>Query Processing Architecture</vt:lpstr>
      <vt:lpstr>Query Execution and Evaluation</vt:lpstr>
      <vt:lpstr>Execution Steps and Operators</vt:lpstr>
      <vt:lpstr>Database Indexing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 Processing and Business Intelligence Systems</dc:title>
  <dc:subject>PptxGenJS Presentation</dc:subject>
  <dc:creator>PptxGenJS</dc:creator>
  <cp:lastModifiedBy>Anlo Melwin S</cp:lastModifiedBy>
  <cp:revision>3</cp:revision>
  <dcterms:created xsi:type="dcterms:W3CDTF">2026-10-14T06:55:20Z</dcterms:created>
  <dcterms:modified xsi:type="dcterms:W3CDTF">2026-10-14T07:01:03Z</dcterms:modified>
</cp:coreProperties>
</file>